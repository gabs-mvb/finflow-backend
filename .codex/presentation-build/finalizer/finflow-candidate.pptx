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c6d33fefed4522" /><Relationship Type="http://schemas.openxmlformats.org/officeDocument/2006/relationships/extended-properties" Target="/docProps/app.xml" Id="R2f906ecefa094ba3" /><Relationship Type="http://schemas.openxmlformats.org/officeDocument/2006/relationships/officeDocument" Target="/ppt/presentation.xml" Id="Rb78a90743c4140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6cecd8fb954253"/>
  </p:sldMasterIdLst>
  <p:notesMasterIdLst>
    <p:notesMasterId xmlns:r="http://schemas.openxmlformats.org/officeDocument/2006/relationships" r:id="Rfba1df19df7d4ba3"/>
  </p:notesMasterIdLst>
  <p:sldIdLst>
    <p:sldId xmlns:r="http://schemas.openxmlformats.org/officeDocument/2006/relationships" id="256" r:id="R9dc01ea5c8cb47e5"/>
    <p:sldId xmlns:r="http://schemas.openxmlformats.org/officeDocument/2006/relationships" id="257" r:id="R538ed80016d44bb1"/>
    <p:sldId xmlns:r="http://schemas.openxmlformats.org/officeDocument/2006/relationships" id="258" r:id="R07cfcf646ecd442d"/>
    <p:sldId xmlns:r="http://schemas.openxmlformats.org/officeDocument/2006/relationships" id="259" r:id="R6d196cc964974d9d"/>
    <p:sldId xmlns:r="http://schemas.openxmlformats.org/officeDocument/2006/relationships" id="260" r:id="Ref0a48e01f254940"/>
    <p:sldId xmlns:r="http://schemas.openxmlformats.org/officeDocument/2006/relationships" id="261" r:id="R94d1b1a9d4674ff8"/>
    <p:sldId xmlns:r="http://schemas.openxmlformats.org/officeDocument/2006/relationships" id="262" r:id="R3ca24d46626a4716"/>
    <p:sldId xmlns:r="http://schemas.openxmlformats.org/officeDocument/2006/relationships" id="263" r:id="R22add61fbe314cd4"/>
    <p:sldId xmlns:r="http://schemas.openxmlformats.org/officeDocument/2006/relationships" id="264" r:id="Rb36b1a489eaf4d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1aef602ffe431a" /><Relationship Type="http://schemas.openxmlformats.org/officeDocument/2006/relationships/slideMaster" Target="/ppt/slideMasters/slideMaster1.xml" Id="R256cecd8fb954253" /><Relationship Type="http://schemas.openxmlformats.org/officeDocument/2006/relationships/notesMaster" Target="/ppt/notesMasters/notesMaster1.xml" Id="Rfba1df19df7d4ba3" /><Relationship Type="http://schemas.openxmlformats.org/officeDocument/2006/relationships/presProps" Target="/ppt/presProps.xml" Id="R48b14cb5b9224a12" /><Relationship Type="http://schemas.openxmlformats.org/officeDocument/2006/relationships/tableStyles" Target="/ppt/tableStyles.xml" Id="Rbad4e58207424fff" /><Relationship Type="http://schemas.openxmlformats.org/officeDocument/2006/relationships/slide" Target="/ppt/slides/slide1.xml" Id="R9dc01ea5c8cb47e5" /><Relationship Type="http://schemas.openxmlformats.org/officeDocument/2006/relationships/slide" Target="/ppt/slides/slide2.xml" Id="R538ed80016d44bb1" /><Relationship Type="http://schemas.openxmlformats.org/officeDocument/2006/relationships/slide" Target="/ppt/slides/slide3.xml" Id="R07cfcf646ecd442d" /><Relationship Type="http://schemas.openxmlformats.org/officeDocument/2006/relationships/slide" Target="/ppt/slides/slide4.xml" Id="R6d196cc964974d9d" /><Relationship Type="http://schemas.openxmlformats.org/officeDocument/2006/relationships/slide" Target="/ppt/slides/slide5.xml" Id="Ref0a48e01f254940" /><Relationship Type="http://schemas.openxmlformats.org/officeDocument/2006/relationships/slide" Target="/ppt/slides/slide6.xml" Id="R94d1b1a9d4674ff8" /><Relationship Type="http://schemas.openxmlformats.org/officeDocument/2006/relationships/slide" Target="/ppt/slides/slide7.xml" Id="R3ca24d46626a4716" /><Relationship Type="http://schemas.openxmlformats.org/officeDocument/2006/relationships/slide" Target="/ppt/slides/slide8.xml" Id="R22add61fbe314cd4" /><Relationship Type="http://schemas.openxmlformats.org/officeDocument/2006/relationships/slide" Target="/ppt/slides/slide9.xml" Id="Rb36b1a489eaf4d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55b08ed2aa4e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471b3e71f34dca" /><Relationship Type="http://schemas.openxmlformats.org/officeDocument/2006/relationships/notesMaster" Target="/ppt/notesMasters/notesMaster1.xml" Id="R57e1c50d07b14e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76c9fade494736" /><Relationship Type="http://schemas.openxmlformats.org/officeDocument/2006/relationships/notesMaster" Target="/ppt/notesMasters/notesMaster1.xml" Id="Ra86438302a774a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10db4e74934b2b" /><Relationship Type="http://schemas.openxmlformats.org/officeDocument/2006/relationships/notesMaster" Target="/ppt/notesMasters/notesMaster1.xml" Id="Rc7b4b88a66a646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eb962a25a14178" /><Relationship Type="http://schemas.openxmlformats.org/officeDocument/2006/relationships/notesMaster" Target="/ppt/notesMasters/notesMaster1.xml" Id="R99552bd6db0740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a04632e867406e" /><Relationship Type="http://schemas.openxmlformats.org/officeDocument/2006/relationships/notesMaster" Target="/ppt/notesMasters/notesMaster1.xml" Id="R0507a41220f04b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1d8a56f1584d97" /><Relationship Type="http://schemas.openxmlformats.org/officeDocument/2006/relationships/notesMaster" Target="/ppt/notesMasters/notesMaster1.xml" Id="Rd23f7de05b6247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259972e1b84e9d" /><Relationship Type="http://schemas.openxmlformats.org/officeDocument/2006/relationships/notesMaster" Target="/ppt/notesMasters/notesMaster1.xml" Id="R2d827367f5674e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3c7cb072f54c0b" /><Relationship Type="http://schemas.openxmlformats.org/officeDocument/2006/relationships/notesMaster" Target="/ppt/notesMasters/notesMaster1.xml" Id="Rd82f607f98c440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57903b8f934d6b" /><Relationship Type="http://schemas.openxmlformats.org/officeDocument/2006/relationships/notesMaster" Target="/ppt/notesMasters/notesMaster1.xml" Id="R2c0a4c21c0a649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apresentando o FinFlow como um planejador financeiro pessoal. O produto consolida dados, calcula o que realmente está disponível e gera ações que o usuário pode revisar. A apresentação usa apenas capacidades presentes no repositório.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problema central não é a falta de telas bancárias. É a falta de uma resposta consolidada para a decisão diária. Saldo isolado não considera obrigações, dívida cara, reserva e metas.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que o FinFlow não tenta prever o mercado. Ele aplica regras financeiras explícitas e devolve um plano que pode ser entendido, revisado e auditado.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é a regra principal do produto. O investimento aparece no fim porque o sistema primeiro cobre o mês, reduz dívida cara e recompõe a reserva.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jornada começa pela configuração do perfil e termina com um plano revisável. A importação exige Idempotency-Key, evitando que o mesmo lote seja processado duas vezes.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MVP já cobre cadastro, consolidação, planejamento, acompanhamento e controles técnicos. Os três modos existem no perfil, mas a fronteira de execução continua fechada.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é o limite de confiança do produto atual. A aplicação recomenda e registra a decisão, mas não movimenta dinheiro. Uma integração futura precisará passar por um orquestrador determinístico e um conector regulado.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monólito modular reduz o custo operacional do MVP sem misturar os domínios. A resiliência atual inclui idempotência, migrations, restrições no banco, auditoria e respostas de erro estáveis.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mostrando que o MVP prova a lógica central. O próximo salto é trocar o registro local de consentimento por uma integração real, mantendo a separação entre recomendação, autorização e execução.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8d2322765848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0adcb5e68d4cb6" /><Relationship Type="http://schemas.openxmlformats.org/officeDocument/2006/relationships/slideLayout" Target="/ppt/slideLayouts/slideLayout1.xml" Id="Rc65a9419b6db47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5a9419b6db47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80c7fc8064dad" /><Relationship Type="http://schemas.openxmlformats.org/officeDocument/2006/relationships/notesSlide" Target="/ppt/notesSlides/notesSlide1.xml" Id="Rfba4dc0aefc342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22b6c9bb44ec4" /><Relationship Type="http://schemas.openxmlformats.org/officeDocument/2006/relationships/notesSlide" Target="/ppt/notesSlides/notesSlide2.xml" Id="R9b35545476fa4d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791667d574ff3" /><Relationship Type="http://schemas.openxmlformats.org/officeDocument/2006/relationships/notesSlide" Target="/ppt/notesSlides/notesSlide3.xml" Id="R561c417a83c04d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4777164df47ed" /><Relationship Type="http://schemas.openxmlformats.org/officeDocument/2006/relationships/notesSlide" Target="/ppt/notesSlides/notesSlide4.xml" Id="R4e77f1ca0a8e4b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fe473323a4ad4" /><Relationship Type="http://schemas.openxmlformats.org/officeDocument/2006/relationships/notesSlide" Target="/ppt/notesSlides/notesSlide5.xml" Id="R00349a72ad9e41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ce482b14d4ba9" /><Relationship Type="http://schemas.openxmlformats.org/officeDocument/2006/relationships/notesSlide" Target="/ppt/notesSlides/notesSlide6.xml" Id="R543238e4c12349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078ded5f14701" /><Relationship Type="http://schemas.openxmlformats.org/officeDocument/2006/relationships/notesSlide" Target="/ppt/notesSlides/notesSlide7.xml" Id="R5206d9b71be940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301550a27460f" /><Relationship Type="http://schemas.openxmlformats.org/officeDocument/2006/relationships/notesSlide" Target="/ppt/notesSlides/notesSlide8.xml" Id="R6499d19ef80b49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602b7ca6a43af" /><Relationship Type="http://schemas.openxmlformats.org/officeDocument/2006/relationships/notesSlide" Target="/ppt/notesSlides/notesSlide9.xml" Id="R947a5628114d4e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746227-1C50-4EEE-9482-09BC5498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82344-9E9E-4DE2-A32A-4FF3C084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66750"/>
            <a:ext cx="2571750" cy="257175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D9444-D2E2-41B7-AC43-894E99BC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14500"/>
            <a:ext cx="1809750" cy="180975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84AA3-95E5-46BF-8404-7C141757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3048000" cy="3048000"/>
          </a:xfrm>
          <a:prstGeom xmlns:a="http://schemas.openxmlformats.org/drawingml/2006/main" prst="ellipse">
            <a:avLst/>
          </a:prstGeom>
          <a:ln xmlns:a="http://schemas.openxmlformats.org/drawingml/2006/main" w="28575">
            <a:solidFill>
              <a:srgbClr val="18A99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32B35-4994-4FB8-AF0E-D42F2D4F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0012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A9E5D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E5D5"/>
                </a:solidFill>
                <a:latin typeface="Arial"/>
                <a:ea typeface="Arial"/>
                <a:cs typeface="Arial"/>
              </a:rPr>
              <a:t>PLANEJAMENTO FINANCEIRO PESSOAL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F240C-B8E4-4CBC-A4E1-DF641109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66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58622-89D2-43A8-83FB-983FACBF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6572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6F3EA"/>
                </a:solidFill>
                <a:latin typeface="Arial"/>
                <a:ea typeface="Arial"/>
                <a:cs typeface="Arial"/>
              </a:rPr>
              <a:t>Um backend que transforma dados financeiros em um plano diário claro e auditável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62626-33E7-4BBE-B19D-F801AA33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A9E5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E5D5"/>
                </a:solidFill>
                <a:latin typeface="Arial"/>
                <a:ea typeface="Arial"/>
                <a:cs typeface="Arial"/>
              </a:rPr>
              <a:t>Produto e arquitetura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A2CD14-B7AC-4301-A492-211C5D88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Kotlin  •  Spring Boot  •  PostgreSQL</a:t>
            </a:r>
          </a:p>
        </p:txBody>
      </p:sp>
    </p:spTree>
    <p:extLst>
      <p:ext uri="{BB962C8B-B14F-4D97-AF65-F5344CB8AC3E}">
        <p14:creationId xmlns:p14="http://schemas.microsoft.com/office/powerpoint/2010/main" val="13902745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89F358-CF3F-4D17-9825-06E38ACC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A decisão financeira acontece com dados espalhados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759E9-A3CE-4EEA-9278-2C258F86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8A9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9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EB40E-9D99-4B6E-8B68-5D6BEF53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Saldo bancário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D0964-382D-4937-88CF-2FB51E75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578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87A"/>
                </a:solidFill>
                <a:latin typeface="Arial"/>
                <a:ea typeface="Arial"/>
                <a:cs typeface="Arial"/>
              </a:rPr>
              <a:t>mostra o agora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18938-EE70-4B7E-8817-0025CD19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0512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Faturas e dívidas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9B25F-6C68-4719-8E66-56821983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578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87A"/>
                </a:solidFill>
                <a:latin typeface="Arial"/>
                <a:ea typeface="Arial"/>
                <a:cs typeface="Arial"/>
              </a:rPr>
              <a:t>mostram compromissos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FBE50-4871-421F-8205-E8A1DA28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Metas e reserva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85EB2-709A-4FB4-AACA-CECAD321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578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87A"/>
                </a:solidFill>
                <a:latin typeface="Arial"/>
                <a:ea typeface="Arial"/>
                <a:cs typeface="Arial"/>
              </a:rPr>
              <a:t>mostram o futuro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FEAAA-A142-4313-8AB3-CDFB5EFA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3350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8D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67F89-91EF-42C4-BBAE-C5106FBC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04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EF7A6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F7A62"/>
                </a:solidFill>
                <a:latin typeface="Arial"/>
                <a:ea typeface="Arial"/>
                <a:cs typeface="Arial"/>
              </a:rPr>
              <a:t>PERGUNTA QUE FICA SEM RESPOSTA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8085E-07A8-48C1-BAA4-6AEEF98B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47875"/>
            <a:ext cx="628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8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Quanto posso gastar hoje sem comprometer o restante do mês?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3FC241-8572-4CB4-8086-E651C094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91000"/>
            <a:ext cx="571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237E38-596C-46D1-B633-3B5F794A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24375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8313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136"/>
                </a:solidFill>
                <a:latin typeface="Arial"/>
                <a:ea typeface="Arial"/>
                <a:cs typeface="Arial"/>
              </a:rPr>
              <a:t>O FinFlow reúne essas informações antes de recomendar qualquer ação.</a:t>
            </a:r>
          </a:p>
        </p:txBody>
      </p:sp>
    </p:spTree>
    <p:extLst>
      <p:ext uri="{BB962C8B-B14F-4D97-AF65-F5344CB8AC3E}">
        <p14:creationId xmlns:p14="http://schemas.microsoft.com/office/powerpoint/2010/main" val="12883530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302D3-C6DD-4504-B13A-ACA92A03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Um CFO pessoal baseado em regras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6392E-9B24-4BE7-9809-66DD38A8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8A9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9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109F1-3705-4550-90A4-85EB20BF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14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8A99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A999"/>
                </a:solidFill>
                <a:latin typeface="Arial"/>
                <a:ea typeface="Arial"/>
                <a:cs typeface="Arial"/>
              </a:rPr>
              <a:t>ENTRADA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A26F2-84AE-4F02-B634-1DCA1185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Contas, transações, obrigações, dívidas, metas e carteira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4CCE4-FB1B-4A3F-BD6D-37E59650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695450"/>
            <a:ext cx="0" cy="3333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8D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F709FE-DB14-49BE-9D65-7CBAF8E6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314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8A99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A999"/>
                </a:solidFill>
                <a:latin typeface="Arial"/>
                <a:ea typeface="Arial"/>
                <a:cs typeface="Arial"/>
              </a:rPr>
              <a:t>CÁLCULO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B1E73-DED2-4808-954C-DBC66F20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9545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O motor protege o caixa do mês e distribui somente o excedente disponível.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51CBE-7C5B-4E3E-9E5A-B134EBE7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0774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34CCB-B836-4E5E-9376-AB0CC97A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A9E5D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E5D5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007E9-80DE-4114-BF91-8E2A0E1A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saldo livre real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8CEEE-121D-4E82-BAAF-F6839C16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81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limite diário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107D03-5EEB-4A4A-9A54-E2D99C8C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815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próxima 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8A3A52-98D5-46CE-B9D5-C96069E0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912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578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5787A"/>
                </a:solidFill>
                <a:latin typeface="Arial"/>
                <a:ea typeface="Arial"/>
                <a:cs typeface="Arial"/>
              </a:rPr>
              <a:t>Cada plano mantém avisos, intenções e registro de auditoria.</a:t>
            </a:r>
          </a:p>
        </p:txBody>
      </p:sp>
    </p:spTree>
    <p:extLst>
      <p:ext uri="{BB962C8B-B14F-4D97-AF65-F5344CB8AC3E}">
        <p14:creationId xmlns:p14="http://schemas.microsoft.com/office/powerpoint/2010/main" val="19018610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BABF8D-239B-42A3-A32C-F251F5BD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A ordem de prioridade protege o caixa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3633D3-E7D9-48AD-8336-62185B29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8A9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9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1C59B-DBF9-4312-9C99-17234C4E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28750"/>
            <a:ext cx="933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2A2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318F5-DEA4-4FBC-A497-284E1DB1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71625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36987-8768-43EB-A3A3-D3EECD8F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24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Obrigações e caixa mínimo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5C036-015E-4C40-BA87-BE75942A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6140" y="1543050"/>
            <a:ext cx="317373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Reserva o que vence antes da próxima renda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0C95C-FF39-4657-8D11-73B461A7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00300"/>
            <a:ext cx="8001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3B4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F2519-F28F-4278-8FF8-6C284843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43175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1CBDA-829C-4691-A9FA-AFE16F4E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955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Dívida de alto custo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F470D-8344-400D-B4C4-02F1B6C5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6120" y="2514600"/>
            <a:ext cx="272034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Usa o excedente para reduzir juros caros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D3113-9674-4870-B7A2-5B26DDE2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71850"/>
            <a:ext cx="666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9E603-DC60-4E03-8D36-936265CC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14725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5CEE0-C564-475A-9955-31D43231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6710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Reserva de emergência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2AB7CE-E20D-4AEA-B1DD-D1046465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86150"/>
            <a:ext cx="2266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Avança até a meta configurada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765435-690E-4195-93FC-CB90BE71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533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56BFA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E209B6-A2E6-4850-B53B-01F27C13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86275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95511F-9B81-4418-9708-20EAD0BE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38650"/>
            <a:ext cx="256032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Investimentos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AADD7C-76E9-42ED-BC2C-EBD62157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080" y="4457700"/>
            <a:ext cx="181356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Aporte após as prioridades anteriores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0EA318-505A-4602-B816-511C0016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6959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O limite diário nasce do saldo livre dividido pelos dias até a próxima renda.</a:t>
            </a:r>
          </a:p>
        </p:txBody>
      </p:sp>
    </p:spTree>
    <p:extLst>
      <p:ext uri="{BB962C8B-B14F-4D97-AF65-F5344CB8AC3E}">
        <p14:creationId xmlns:p14="http://schemas.microsoft.com/office/powerpoint/2010/main" val="11432350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F758FF-BFB1-45ED-B72C-65A1F0B8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A jornada até o primeiro plano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681AE-C801-46F9-9376-6A4B50EC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8A9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9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CE165-1BC8-4496-AF92-A40C8701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9D8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B36B7-02F6-4EFB-A35C-D64FBC06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2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EB773-0C1B-4013-8C7A-76315CC4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71725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F979B-FD57-4ACB-AA3B-37639100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4766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Perfil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08A9F-15FA-4007-8E32-8A093134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924300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5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87A"/>
                </a:solidFill>
                <a:latin typeface="Arial"/>
                <a:ea typeface="Arial"/>
                <a:cs typeface="Arial"/>
              </a:rPr>
              <a:t>renda, orçamento e risco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485E4A-8449-4A36-87FB-A44434A5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2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A011B-F1BE-4AE7-B292-AF9F9C99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71725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52DF9A-E4AE-4804-BFB9-220E7932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4766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Contas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6AF3F-855B-4DCF-B354-8153E861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924300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5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87A"/>
                </a:solidFill>
                <a:latin typeface="Arial"/>
                <a:ea typeface="Arial"/>
                <a:cs typeface="Arial"/>
              </a:rPr>
              <a:t>saldos por finalidade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36CC7-E0B5-4977-9A43-5F2BCED3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14312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2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B94812-CCBA-4E6C-9791-E55AA5EA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71725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B6F9D5-5DF4-4D04-9875-819452CC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766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Compromissos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1FFAFC-3623-4ADF-A254-33BDD1BE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24300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5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87A"/>
                </a:solidFill>
                <a:latin typeface="Arial"/>
                <a:ea typeface="Arial"/>
                <a:cs typeface="Arial"/>
              </a:rPr>
              <a:t>obrigações e dívidas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BBF6CD-35CE-4B5F-BF11-FE9CD29B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4312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2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5AD46E-8665-4372-85EC-F2131BE8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71725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BB5C38-D99F-45F5-89CA-F6615F5C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4766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Transações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17D1CC-A28C-4A4B-B1AA-87D43A5E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24300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5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87A"/>
                </a:solidFill>
                <a:latin typeface="Arial"/>
                <a:ea typeface="Arial"/>
                <a:cs typeface="Arial"/>
              </a:rPr>
              <a:t>importação idempotente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C0C05B-059D-4450-AAEC-3927BAB1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14312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EC4DB5-AD1D-4533-9ECA-CD6F1C84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71725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554D0D-67E3-4098-BEA5-A025A65D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7662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Plano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E82FDB-D4EA-478F-9BB2-C50AA4AF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24300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5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87A"/>
                </a:solidFill>
                <a:latin typeface="Arial"/>
                <a:ea typeface="Arial"/>
                <a:cs typeface="Arial"/>
              </a:rPr>
              <a:t>cálculo e intenções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24E197-66C7-415B-A1F3-88600EA7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38750"/>
            <a:ext cx="904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5BE287-221F-4E81-9122-5356E57D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76875"/>
            <a:ext cx="904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8313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136"/>
                </a:solidFill>
                <a:latin typeface="Arial"/>
                <a:ea typeface="Arial"/>
                <a:cs typeface="Arial"/>
              </a:rPr>
              <a:t>Depois do plano, o usuário aprova ou rejeita cada intenção. O backend não executa transferências.</a:t>
            </a:r>
          </a:p>
        </p:txBody>
      </p:sp>
    </p:spTree>
    <p:extLst>
      <p:ext uri="{BB962C8B-B14F-4D97-AF65-F5344CB8AC3E}">
        <p14:creationId xmlns:p14="http://schemas.microsoft.com/office/powerpoint/2010/main" val="4078941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9595AB-A698-483D-9DDC-252D4CDB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O MVP cobre o ciclo financeiro essencial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4CE52-2418-4360-AE58-44D79C9C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8A9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9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D8C7B-8E29-4EA7-A0DA-D1340987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8A9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A999"/>
                </a:solidFill>
                <a:latin typeface="Arial"/>
                <a:ea typeface="Arial"/>
                <a:cs typeface="Arial"/>
              </a:rPr>
              <a:t>Consolidar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8EA30-51B2-4061-A1F6-B5EA5665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81125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831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136"/>
                </a:solidFill>
                <a:latin typeface="Arial"/>
                <a:ea typeface="Arial"/>
                <a:cs typeface="Arial"/>
              </a:rPr>
              <a:t>Contas, saldos e transações em um modelo canônico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C2D1A-2395-4599-AEFC-A47AD7B2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D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B88BF5-0EEF-4D20-8654-2FB71169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8A9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A999"/>
                </a:solidFill>
                <a:latin typeface="Arial"/>
                <a:ea typeface="Arial"/>
                <a:cs typeface="Arial"/>
              </a:rPr>
              <a:t>Planejar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F2FA8-FD55-49E1-8B2F-7D9EA310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05075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831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136"/>
                </a:solidFill>
                <a:latin typeface="Arial"/>
                <a:ea typeface="Arial"/>
                <a:cs typeface="Arial"/>
              </a:rPr>
              <a:t>Obrigações, orçamento variável, dívida, reserva e aportes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84297-99B0-4A10-AFAE-16DD7B4C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D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5FCFFC-7A4C-4490-96AE-84D8AE7F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29025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8A99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A999"/>
                </a:solidFill>
                <a:latin typeface="Arial"/>
                <a:ea typeface="Arial"/>
                <a:cs typeface="Arial"/>
              </a:rPr>
              <a:t>Acompanhar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B45F40-9CB3-4DC0-9CF8-EF9248CE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29025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831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136"/>
                </a:solidFill>
                <a:latin typeface="Arial"/>
                <a:ea typeface="Arial"/>
                <a:cs typeface="Arial"/>
              </a:rPr>
              <a:t>Metas, carteira e relatório mensal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17F28-DDE0-41D3-9120-07CE27BA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8627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D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EE93B2-3280-47CD-B637-F1A9B88D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EF7A6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F7A62"/>
                </a:solidFill>
                <a:latin typeface="Arial"/>
                <a:ea typeface="Arial"/>
                <a:cs typeface="Arial"/>
              </a:rPr>
              <a:t>Controlar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22B6A0-B089-40D5-8350-BB2E729C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752975"/>
            <a:ext cx="752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831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136"/>
                </a:solidFill>
                <a:latin typeface="Arial"/>
                <a:ea typeface="Arial"/>
                <a:cs typeface="Arial"/>
              </a:rPr>
              <a:t>Consentimentos, API key, auditoria e erros padronizados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690B3D-BFBD-4F4C-8AA6-F67A8B80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817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578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A"/>
                </a:solidFill>
                <a:latin typeface="Arial"/>
                <a:ea typeface="Arial"/>
                <a:cs typeface="Arial"/>
              </a:rPr>
              <a:t>Modos disponíveis: OBSERVER, COPILOT e AUTOPILOT. No MVP, nenhum modo libera execução bancária.</a:t>
            </a:r>
          </a:p>
        </p:txBody>
      </p:sp>
    </p:spTree>
    <p:extLst>
      <p:ext uri="{BB962C8B-B14F-4D97-AF65-F5344CB8AC3E}">
        <p14:creationId xmlns:p14="http://schemas.microsoft.com/office/powerpoint/2010/main" val="1292896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9BBC85-26BA-43E2-AA5D-D73FA296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Recomendação e execução permanecem separadas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989F8-FB61-4C5E-962F-6A8B2F6B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A9E5D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E5D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6698E-1B6B-46BE-B7CA-14498E04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33700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9E5D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92BA5-7486-4C8C-B3E3-9A204FAA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73B40"/>
          </a:solidFill>
          <a:ln xmlns:a="http://schemas.openxmlformats.org/drawingml/2006/main" w="19050">
            <a:solidFill>
              <a:srgbClr val="A9E5D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83F28-A5D3-4D4F-BFE4-E41A4584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0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Dados canônicos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42421-69AB-4911-B94A-726BAF46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A9E5D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E5D5"/>
                </a:solidFill>
                <a:latin typeface="Arial"/>
                <a:ea typeface="Arial"/>
                <a:cs typeface="Arial"/>
              </a:rPr>
              <a:t>contas e transações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652B4-AC00-4195-9895-FA2F2319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383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73B40"/>
          </a:solidFill>
          <a:ln xmlns:a="http://schemas.openxmlformats.org/drawingml/2006/main" w="19050">
            <a:solidFill>
              <a:srgbClr val="A9E5D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ABB48-5EA7-453A-91FF-04F8586F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B7F6B-2741-4CA7-809A-59F3B6CF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7180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A9E5D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E5D5"/>
                </a:solidFill>
                <a:latin typeface="Arial"/>
                <a:ea typeface="Arial"/>
                <a:cs typeface="Arial"/>
              </a:rPr>
              <a:t>regras determinísticas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B974F-9A35-491C-A3EA-E36B1DE1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383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73B40"/>
          </a:solidFill>
          <a:ln xmlns:a="http://schemas.openxmlformats.org/drawingml/2006/main" w="19050">
            <a:solidFill>
              <a:srgbClr val="A9E5D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A64437-FFAC-4723-B8BB-EB51FC03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765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Intenção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A08C2-6388-4632-A1D5-216EA556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7180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A9E5D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E5D5"/>
                </a:solidFill>
                <a:latin typeface="Arial"/>
                <a:ea typeface="Arial"/>
                <a:cs typeface="Arial"/>
              </a:rPr>
              <a:t>ação proposta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E06484-9581-41FB-9680-D6E276BE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38375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8A999"/>
          </a:solidFill>
          <a:ln xmlns:a="http://schemas.openxmlformats.org/drawingml/2006/main" w="19050">
            <a:solidFill>
              <a:srgbClr val="A9E5D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537FAD-C022-4783-AFA6-C273E807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8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Decisão humana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16C4B-6527-4630-A68E-36FDDC26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71800"/>
            <a:ext cx="165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A9E5D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E5D5"/>
                </a:solidFill>
                <a:latin typeface="Arial"/>
                <a:ea typeface="Arial"/>
                <a:cs typeface="Arial"/>
              </a:rPr>
              <a:t>aprovar ou rejeitar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9D261-08A7-489C-A30A-412F9A13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4219C9-4844-4C8E-A6B4-9C5E0071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5772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Sem executor bancário no MVP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5602CB-0EF0-45B4-9322-10B77F9B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102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F6F3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6F3EA"/>
                </a:solidFill>
                <a:latin typeface="Arial"/>
                <a:ea typeface="Arial"/>
                <a:cs typeface="Arial"/>
              </a:rPr>
              <a:t>Aprovar muda o estado da intenção. O campo executionAvailable permanece falso.</a:t>
            </a:r>
          </a:p>
        </p:txBody>
      </p:sp>
    </p:spTree>
    <p:extLst>
      <p:ext uri="{BB962C8B-B14F-4D97-AF65-F5344CB8AC3E}">
        <p14:creationId xmlns:p14="http://schemas.microsoft.com/office/powerpoint/2010/main" val="19287120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C9E5D8-4E4D-431D-A03B-6912FCFF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Arquitetura preparada para evoluir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CC861-7F63-4992-AF1A-5FFBC916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8A9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9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BDCF3-96B6-4508-9852-803C38A2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8A99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A999"/>
                </a:solidFill>
                <a:latin typeface="Arial"/>
                <a:ea typeface="Arial"/>
                <a:cs typeface="Arial"/>
              </a:rPr>
              <a:t>MONÓLITO MODULAR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0DAA2-7AD4-4172-A092-5F67F820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Uma implantação com fronteiras por domínio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20BE67-0DEA-4D5B-945F-08697402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933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2E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5F3D0-DD0E-490B-B433-847CA3D0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527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profile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668F5-A719-4764-A2B7-DC56261E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667000"/>
            <a:ext cx="933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2E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3B03A-F1E7-4C49-97C8-9699DCED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7527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account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1829C-D913-46ED-AAEC-2D86978D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67000"/>
            <a:ext cx="933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2E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1B72AC-BBCB-4B88-A57D-E4996995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527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transaction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7E0909-668F-4501-85D1-180A91CB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67000"/>
            <a:ext cx="933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2E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DE19C-373A-4CD2-A845-E1A43547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527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planning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8FD5E4-5D55-4C54-BEC0-7F5837E8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933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2E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8766EB-4439-4FC4-AA39-F9C156BE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portfolio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A546F-3374-47C8-98E4-888DE1EE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352800"/>
            <a:ext cx="933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2E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54BA22-CA3B-48A4-996D-A657C4F0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385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5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openfinance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493EB-BD65-413C-9351-DF3924DC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52800"/>
            <a:ext cx="933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2E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F72FBB-537C-4457-B1A4-595DF9C6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385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A83C5D-B647-4F0E-A00C-9A22A31C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285875"/>
            <a:ext cx="0" cy="433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8D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604A4B-7956-4756-B113-F00ED3F1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257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EF7A6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F7A62"/>
                </a:solidFill>
                <a:latin typeface="Arial"/>
                <a:ea typeface="Arial"/>
                <a:cs typeface="Arial"/>
              </a:rPr>
              <a:t>RESILIÊNCIA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32A53C-CCC5-46FC-B059-5970ECDA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954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Idempotência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2F0C28-C41C-41BC-B197-565236DE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954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578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A"/>
                </a:solidFill>
                <a:latin typeface="Arial"/>
                <a:ea typeface="Arial"/>
                <a:cs typeface="Arial"/>
              </a:rPr>
              <a:t>repetição segura na importação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DE3099-B45D-4984-B1F3-B07E8B78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D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FFE90F-EF8E-458A-8687-B9F5565F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955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Persistência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7B84BD-2CA0-4779-8CA5-6835DE90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9557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578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A"/>
                </a:solidFill>
                <a:latin typeface="Arial"/>
                <a:ea typeface="Arial"/>
                <a:cs typeface="Arial"/>
              </a:rPr>
              <a:t>Flyway e restrições de unicidade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6C29AE-1A0C-473B-AA69-EDBB6C28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81375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D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D77976-816B-4C26-B5BD-91B150D8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957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Erros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D1EE2E-CED5-40CA-AA1C-6FFEA6DD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957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9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578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A"/>
                </a:solidFill>
                <a:latin typeface="Arial"/>
                <a:ea typeface="Arial"/>
                <a:cs typeface="Arial"/>
              </a:rPr>
              <a:t>contrato RFC 9457 sem detalhes internos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9BBF99-3F6B-424B-B4E5-0A266115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8150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8D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251EF9-CEAA-4AB0-90F8-05698A57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6958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Auditoria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F16926-54FD-4856-BC00-CEA0B45C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95825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578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7A"/>
                </a:solidFill>
                <a:latin typeface="Arial"/>
                <a:ea typeface="Arial"/>
                <a:cs typeface="Arial"/>
              </a:rPr>
              <a:t>eventos para mudanças relevantes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3B3A54-355C-4127-9A6F-8379DF07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578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87A"/>
                </a:solidFill>
                <a:latin typeface="Arial"/>
                <a:ea typeface="Arial"/>
                <a:cs typeface="Arial"/>
              </a:rPr>
              <a:t>Stack: Java 17, Kotlin 2.3.21, Spring Boot 4.1.0, PostgreSQL 17 e Gradle 9.5.1</a:t>
            </a:r>
          </a:p>
        </p:txBody>
      </p:sp>
    </p:spTree>
    <p:extLst>
      <p:ext uri="{BB962C8B-B14F-4D97-AF65-F5344CB8AC3E}">
        <p14:creationId xmlns:p14="http://schemas.microsoft.com/office/powerpoint/2010/main" val="18452983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C3FC7F-2049-4B75-A116-F2D5D6B9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81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Próximos passos do produto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BA2B1-85B3-49DB-AE1D-D1366791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18A9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8A99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33BDC-13A4-4709-866F-3A9BBBFD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AGORA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38908-DD28-40AB-9E86-8920864C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MVP operacional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CD950-77C2-47E3-8709-08222D1A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831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3136"/>
                </a:solidFill>
                <a:latin typeface="Arial"/>
                <a:ea typeface="Arial"/>
                <a:cs typeface="Arial"/>
              </a:rPr>
              <a:t>Planejamento, relatórios e intenções auditáveis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C33DE-D310-494D-A5E2-3DF5D0F1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714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2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A642E-7784-4C78-8F7B-9799D996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524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8A99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A999"/>
                </a:solidFill>
                <a:latin typeface="Arial"/>
                <a:ea typeface="Arial"/>
                <a:cs typeface="Arial"/>
              </a:rPr>
              <a:t>PRÓXIMO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F7C80-73E8-4232-B87E-C7602620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971675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Open Finance real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B5C47-01B8-4922-9378-5732A9BB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667000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831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3136"/>
                </a:solidFill>
                <a:latin typeface="Arial"/>
                <a:ea typeface="Arial"/>
                <a:cs typeface="Arial"/>
              </a:rPr>
              <a:t>OAuth, sincronização paginada, webhooks e tokens protegidos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0C3DB-8C40-421E-9C83-2697D8BE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71950"/>
            <a:ext cx="2714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4673E-4500-4F47-8AF9-A52252EA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24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EF7A6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F7A62"/>
                </a:solidFill>
                <a:latin typeface="Arial"/>
                <a:ea typeface="Arial"/>
                <a:cs typeface="Arial"/>
              </a:rPr>
              <a:t>DEPOIS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2F40A-DDC1-49C4-B71A-0596BB71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71675"/>
            <a:ext cx="2714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Execução controlada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C5211-DC1A-4B6D-B244-920843E9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67000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8313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3136"/>
                </a:solidFill>
                <a:latin typeface="Arial"/>
                <a:ea typeface="Arial"/>
                <a:cs typeface="Arial"/>
              </a:rPr>
              <a:t>Outbox, reconciliação, limites e conectores regulados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29A45-A30A-4D4B-B4CC-AF7A6B10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71950"/>
            <a:ext cx="2714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A6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8A6DF6-E609-4F66-8C4E-DCC48BF1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8D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3627BB-B07E-4718-8FBC-C9BB89CB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86375"/>
            <a:ext cx="876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02A2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2E"/>
                </a:solidFill>
                <a:latin typeface="Arial"/>
                <a:ea typeface="Arial"/>
                <a:cs typeface="Arial"/>
              </a:rPr>
              <a:t>FinFlow já demonstra a lógica central do produto: transformar dados financeiros em decisões explicáveis, sem abrir mão de controle.</a:t>
            </a:r>
          </a:p>
        </p:txBody>
      </p:sp>
    </p:spTree>
    <p:extLst>
      <p:ext uri="{BB962C8B-B14F-4D97-AF65-F5344CB8AC3E}">
        <p14:creationId xmlns:p14="http://schemas.microsoft.com/office/powerpoint/2010/main" val="9097585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2026-09-21T01:55:24.5060000Z</dcterms:created>
  <dcterms:modified xsi:type="dcterms:W3CDTF">2026-09-21T01:55:24.5060000Z</dcterms:modified>
</coreProperties>
</file>