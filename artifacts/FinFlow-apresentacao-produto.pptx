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cc88f2fdc74780" /><Relationship Type="http://schemas.openxmlformats.org/officeDocument/2006/relationships/extended-properties" Target="/docProps/app.xml" Id="R44cf8be0e50f4ed2" /><Relationship Type="http://schemas.openxmlformats.org/officeDocument/2006/relationships/officeDocument" Target="/ppt/presentation.xml" Id="R3f487460c1514b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a3d835fc5c44d5"/>
  </p:sldMasterIdLst>
  <p:notesMasterIdLst>
    <p:notesMasterId xmlns:r="http://schemas.openxmlformats.org/officeDocument/2006/relationships" r:id="R9d60efd68fcc41c5"/>
  </p:notesMasterIdLst>
  <p:sldIdLst>
    <p:sldId xmlns:r="http://schemas.openxmlformats.org/officeDocument/2006/relationships" id="256" r:id="R17648ce97f974b52"/>
    <p:sldId xmlns:r="http://schemas.openxmlformats.org/officeDocument/2006/relationships" id="257" r:id="R128dcc70ac5f48c8"/>
    <p:sldId xmlns:r="http://schemas.openxmlformats.org/officeDocument/2006/relationships" id="258" r:id="Rc34f1fe5cd6449bf"/>
    <p:sldId xmlns:r="http://schemas.openxmlformats.org/officeDocument/2006/relationships" id="259" r:id="R4c8d6faaef504945"/>
    <p:sldId xmlns:r="http://schemas.openxmlformats.org/officeDocument/2006/relationships" id="260" r:id="R895a6217ef054d63"/>
    <p:sldId xmlns:r="http://schemas.openxmlformats.org/officeDocument/2006/relationships" id="261" r:id="R2df261a4682a4ea4"/>
    <p:sldId xmlns:r="http://schemas.openxmlformats.org/officeDocument/2006/relationships" id="262" r:id="Rb09683a32c7241c1"/>
    <p:sldId xmlns:r="http://schemas.openxmlformats.org/officeDocument/2006/relationships" id="263" r:id="Ra554b3a0eccc466e"/>
    <p:sldId xmlns:r="http://schemas.openxmlformats.org/officeDocument/2006/relationships" id="264" r:id="R1545824f59ca4f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525e5cd2294a65" /><Relationship Type="http://schemas.openxmlformats.org/officeDocument/2006/relationships/slideMaster" Target="/ppt/slideMasters/slideMaster1.xml" Id="R2ba3d835fc5c44d5" /><Relationship Type="http://schemas.openxmlformats.org/officeDocument/2006/relationships/notesMaster" Target="/ppt/notesMasters/notesMaster1.xml" Id="R9d60efd68fcc41c5" /><Relationship Type="http://schemas.openxmlformats.org/officeDocument/2006/relationships/presProps" Target="/ppt/presProps.xml" Id="Rdf669aeadd494c99" /><Relationship Type="http://schemas.openxmlformats.org/officeDocument/2006/relationships/tableStyles" Target="/ppt/tableStyles.xml" Id="R709087103aeb430f" /><Relationship Type="http://schemas.openxmlformats.org/officeDocument/2006/relationships/slide" Target="/ppt/slides/slide1.xml" Id="R17648ce97f974b52" /><Relationship Type="http://schemas.openxmlformats.org/officeDocument/2006/relationships/slide" Target="/ppt/slides/slide2.xml" Id="R128dcc70ac5f48c8" /><Relationship Type="http://schemas.openxmlformats.org/officeDocument/2006/relationships/slide" Target="/ppt/slides/slide3.xml" Id="Rc34f1fe5cd6449bf" /><Relationship Type="http://schemas.openxmlformats.org/officeDocument/2006/relationships/slide" Target="/ppt/slides/slide4.xml" Id="R4c8d6faaef504945" /><Relationship Type="http://schemas.openxmlformats.org/officeDocument/2006/relationships/slide" Target="/ppt/slides/slide5.xml" Id="R895a6217ef054d63" /><Relationship Type="http://schemas.openxmlformats.org/officeDocument/2006/relationships/slide" Target="/ppt/slides/slide6.xml" Id="R2df261a4682a4ea4" /><Relationship Type="http://schemas.openxmlformats.org/officeDocument/2006/relationships/slide" Target="/ppt/slides/slide7.xml" Id="Rb09683a32c7241c1" /><Relationship Type="http://schemas.openxmlformats.org/officeDocument/2006/relationships/slide" Target="/ppt/slides/slide8.xml" Id="Ra554b3a0eccc466e" /><Relationship Type="http://schemas.openxmlformats.org/officeDocument/2006/relationships/slide" Target="/ppt/slides/slide9.xml" Id="R1545824f59ca4f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70869fe01141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d8aeea082448d4" /><Relationship Type="http://schemas.openxmlformats.org/officeDocument/2006/relationships/notesMaster" Target="/ppt/notesMasters/notesMaster1.xml" Id="R4d2035d4f94441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74b4cc038e49f7" /><Relationship Type="http://schemas.openxmlformats.org/officeDocument/2006/relationships/notesMaster" Target="/ppt/notesMasters/notesMaster1.xml" Id="Rd865f71569de49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3d5be9de4a411d" /><Relationship Type="http://schemas.openxmlformats.org/officeDocument/2006/relationships/notesMaster" Target="/ppt/notesMasters/notesMaster1.xml" Id="Re774e7dfa5f140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3f3ad99a7a406b" /><Relationship Type="http://schemas.openxmlformats.org/officeDocument/2006/relationships/notesMaster" Target="/ppt/notesMasters/notesMaster1.xml" Id="R22f47ccfcd1e46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93cb98991a492b" /><Relationship Type="http://schemas.openxmlformats.org/officeDocument/2006/relationships/notesMaster" Target="/ppt/notesMasters/notesMaster1.xml" Id="Rb9b3b2753ac14e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17053327914006" /><Relationship Type="http://schemas.openxmlformats.org/officeDocument/2006/relationships/notesMaster" Target="/ppt/notesMasters/notesMaster1.xml" Id="Rf9a057a539fc40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3ad8bb48a042f5" /><Relationship Type="http://schemas.openxmlformats.org/officeDocument/2006/relationships/notesMaster" Target="/ppt/notesMasters/notesMaster1.xml" Id="R13ec6f6fef4c4b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5afcb6a5214a3f" /><Relationship Type="http://schemas.openxmlformats.org/officeDocument/2006/relationships/notesMaster" Target="/ppt/notesMasters/notesMaster1.xml" Id="R95282d91fa1643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fb3992e2404dff" /><Relationship Type="http://schemas.openxmlformats.org/officeDocument/2006/relationships/notesMaster" Target="/ppt/notesMasters/notesMaster1.xml" Id="Re522c3add31345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apresentando o FinFlow como um planejador financeiro pessoal. O produto consolida dados, calcula o que realmente está disponível e gera ações que o usuário pode revisar. A apresentação usa apenas capacidades presentes no repositório.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problema central não é a falta de telas bancárias. É a falta de uma resposta consolidada para a decisão diária. Saldo isolado não considera obrigações, dívida cara, reserva e metas.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FinFlow não tenta prever o mercado. Ele aplica regras financeiras explícitas e devolve um plano que pode ser entendido, revisado e auditado.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é a regra principal do produto. O investimento aparece no fim porque o sistema primeiro cobre o mês, reduz dívida cara e recompõe a reserva.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jornada começa pela configuração do perfil e termina com um plano revisável. A importação exige Idempotency-Key, evitando que o mesmo lote seja processado duas vezes.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MVP já cobre cadastro, consolidação, planejamento, acompanhamento e controles técnicos. Os três modos existem no perfil, mas a fronteira de execução continua fechada.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o limite de confiança do produto atual. A aplicação recomenda e registra a decisão, mas não movimenta dinheiro. Uma integração futura precisará passar por um orquestrador determinístico e um conector regulado.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monólito modular reduz o custo operacional do MVP sem misturar os domínios. A resiliência atual inclui idempotência, migrations, restrições no banco, auditoria e respostas de erro estáveis.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mostrando que o MVP prova a lógica central. O próximo salto é trocar o registro local de consentimento por uma integração real, mantendo a separação entre recomendação, autorização 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1f3c4309684e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4815d9719145a2" /><Relationship Type="http://schemas.openxmlformats.org/officeDocument/2006/relationships/slideLayout" Target="/ppt/slideLayouts/slideLayout1.xml" Id="Rf0d6d3f4c2f347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d6d3f4c2f347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a65f0946740b1" /><Relationship Type="http://schemas.openxmlformats.org/officeDocument/2006/relationships/notesSlide" Target="/ppt/notesSlides/notesSlide1.xml" Id="Rf74db969b42a41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e913325d94166" /><Relationship Type="http://schemas.openxmlformats.org/officeDocument/2006/relationships/notesSlide" Target="/ppt/notesSlides/notesSlide2.xml" Id="R9242cc6233b646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a3cc3f06f4e29" /><Relationship Type="http://schemas.openxmlformats.org/officeDocument/2006/relationships/notesSlide" Target="/ppt/notesSlides/notesSlide3.xml" Id="R1fda1e908c2a4f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534f357554a1d" /><Relationship Type="http://schemas.openxmlformats.org/officeDocument/2006/relationships/notesSlide" Target="/ppt/notesSlides/notesSlide4.xml" Id="R9a81e5ea3ccb4a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1780d2b5846b8" /><Relationship Type="http://schemas.openxmlformats.org/officeDocument/2006/relationships/notesSlide" Target="/ppt/notesSlides/notesSlide5.xml" Id="Re5eebb6d157949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4e39a2b224717" /><Relationship Type="http://schemas.openxmlformats.org/officeDocument/2006/relationships/notesSlide" Target="/ppt/notesSlides/notesSlide6.xml" Id="R25266c5bd32449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ce860dc514d52" /><Relationship Type="http://schemas.openxmlformats.org/officeDocument/2006/relationships/notesSlide" Target="/ppt/notesSlides/notesSlide7.xml" Id="R28c2dbf7783046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8abc9b8944105" /><Relationship Type="http://schemas.openxmlformats.org/officeDocument/2006/relationships/notesSlide" Target="/ppt/notesSlides/notesSlide8.xml" Id="Rdd5fe608032548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7cd9186284c8d" /><Relationship Type="http://schemas.openxmlformats.org/officeDocument/2006/relationships/notesSlide" Target="/ppt/notesSlides/notesSlide9.xml" Id="Rb2174c75a87446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A6CC4-B6A2-4C69-B1ED-97C15603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F5727-64A7-4809-8753-D9AE24C5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66750"/>
            <a:ext cx="2571750" cy="257175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D9DB3-5671-42AC-94DF-25BF13A2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0"/>
            <a:ext cx="1809750" cy="180975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2F2B6-33BF-4B50-B6CF-109EAD51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3048000" cy="3048000"/>
          </a:xfrm>
          <a:prstGeom xmlns:a="http://schemas.openxmlformats.org/drawingml/2006/main" prst="ellipse">
            <a:avLst/>
          </a:prstGeom>
          <a:ln xmlns:a="http://schemas.openxmlformats.org/drawingml/2006/main" w="28575">
            <a:solidFill>
              <a:srgbClr val="18A99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AD7C0-8875-4E09-9A0E-A8A09C64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A9E5D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E5D5"/>
                </a:solidFill>
                <a:latin typeface="Arial"/>
                <a:ea typeface="Arial"/>
                <a:cs typeface="Arial"/>
              </a:rPr>
              <a:t>PLANEJAMENTO FINANCEIRO PESSOAL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7499B-307D-4772-842F-1DD8248B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66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8C431-A4EB-4D6C-BC11-7C63B94F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657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6F3EA"/>
                </a:solidFill>
                <a:latin typeface="Arial"/>
                <a:ea typeface="Arial"/>
                <a:cs typeface="Arial"/>
              </a:rPr>
              <a:t>Um backend que transforma dados financeiros em um plano diário claro e auditável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A2DC0-AC79-4080-96C5-D18E9C65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9E5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E5D5"/>
                </a:solidFill>
                <a:latin typeface="Arial"/>
                <a:ea typeface="Arial"/>
                <a:cs typeface="Arial"/>
              </a:rPr>
              <a:t>Produto e arquitetura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60682-7A78-4700-9F7A-69A1BA75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Kotlin  •  Spring Boot  •  PostgreSQL</a:t>
            </a:r>
          </a:p>
        </p:txBody>
      </p:sp>
    </p:spTree>
    <p:extLst>
      <p:ext uri="{BB962C8B-B14F-4D97-AF65-F5344CB8AC3E}">
        <p14:creationId xmlns:p14="http://schemas.microsoft.com/office/powerpoint/2010/main" val="12998884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5E1AE-D092-48DB-85A3-AE453EE4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A decisão financeira acontece com dados espalhados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0B8C6-3AFD-458B-8699-A3BDAFB4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7375E-0E46-4129-AA99-CED4F3CB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Saldo bancário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4D834-9070-4717-B800-07912361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mostra o agora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384BA-B644-4858-9AF9-8B28D122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Faturas e dívidas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9B051-A219-4F1B-A708-D0484C99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mostram compromissos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071DC-183C-480B-86E2-A58C3E42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Metas e reserva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1AE1E-CCDC-421E-9CB6-2906C32E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mostram o futuro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F85E1-FDF8-4660-A99E-28181507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3350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8D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1CD10-45BF-47F4-8C3F-85AFE5D5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04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F7A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F7A62"/>
                </a:solidFill>
                <a:latin typeface="Arial"/>
                <a:ea typeface="Arial"/>
                <a:cs typeface="Arial"/>
              </a:rPr>
              <a:t>PERGUNTA QUE FICA SEM RESPOSTA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FA95D-F8E9-43E4-BE38-54E07586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47875"/>
            <a:ext cx="628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Quanto posso gastar hoje sem comprometer o restante do mês?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01E7C-5ECF-4D75-A208-506BD298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571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DA0C6-1042-4892-A949-A92EF128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24375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8313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136"/>
                </a:solidFill>
                <a:latin typeface="Arial"/>
                <a:ea typeface="Arial"/>
                <a:cs typeface="Arial"/>
              </a:rPr>
              <a:t>O FinFlow reúne essas informações antes de recomendar qualquer ação.</a:t>
            </a:r>
          </a:p>
        </p:txBody>
      </p:sp>
    </p:spTree>
    <p:extLst>
      <p:ext uri="{BB962C8B-B14F-4D97-AF65-F5344CB8AC3E}">
        <p14:creationId xmlns:p14="http://schemas.microsoft.com/office/powerpoint/2010/main" val="12023876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090C4-9EC6-48BF-8F1E-42D5D066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Um CFO pessoal baseado em regras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7BBCB-9E78-4600-8016-7CA8B565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3AA9E-CB90-4D25-A2FC-8D7E7B6C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8EB65-3BF3-4427-AB96-DF1FCE24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Contas, transações, obrigações, dívidas, metas e carteira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00B96-4AA9-454B-8A0E-27D492AD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954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43FAE-459A-41F2-9467-7AD21104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314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CÁLCULO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0019E-B9DF-4007-9261-CF1169B6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954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O motor protege o caixa do mês e distribui somente o excedente disponível.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7C065-6F8A-448A-94D3-DC23F353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077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1E3E7-0F5C-45A8-AA95-2621CF95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A9E5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E5D5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B400D-79FF-4822-9F79-94408048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saldo livre real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10813-A86C-4AA8-BBEF-2C614AD2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81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limite diário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44A3E-2CF9-4253-A6E5-581CC93A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815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próxima 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FBC08-D9D0-4E05-BF60-3D189D4A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Cada plano mantém avisos, intenções e registro de auditoria.</a:t>
            </a:r>
          </a:p>
        </p:txBody>
      </p:sp>
    </p:spTree>
    <p:extLst>
      <p:ext uri="{BB962C8B-B14F-4D97-AF65-F5344CB8AC3E}">
        <p14:creationId xmlns:p14="http://schemas.microsoft.com/office/powerpoint/2010/main" val="271877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3F8A0A-8DC5-4502-876B-7BF3629A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A ordem de prioridade protege o caixa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A1F3B-A70F-4DD8-B3F7-78EEB831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E1E76-4379-4AFA-B2CD-E1005C93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"/>
            <a:ext cx="933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A2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08D8C-92A3-4BF1-87EC-4A46A31A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5EC0C-13FC-4CDF-A10C-D669EC5C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24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Obrigações e caixa mínimo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C7EB0-71A9-4E48-B694-326C8920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4305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Reserva o que vence antes da próxima renda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197AF-4833-4D00-B76E-970B00C9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00300"/>
            <a:ext cx="8001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B4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18F2E-1C04-4804-8706-9FBB8458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43175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99925-57EA-46A4-8FB6-674ED33E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95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Dívida de alto custo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195C5-7AEA-48EE-A053-27CB872A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Usa o excedente para reduzir juros caros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C1646-0BD8-4374-8D8F-98B40E38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71850"/>
            <a:ext cx="666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599F8-B06F-4351-B798-5DE573E9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14725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19571-2C9B-406E-8F7C-4EC5AAC7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671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Reserva de emergência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BF935-3BD4-4335-8E37-D9177944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86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Avança até a meta mensal configurada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249BE-4C1D-4AB3-A0FB-89637C40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56BFA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566A9-A9DC-48C4-944D-93737847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86275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32396-3DB5-40CE-8C22-7255DF05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Investimentos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BF56F-91A5-4771-A869-983D85CE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577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41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Libera aporte depois das prioridades anteriores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4092FE-CB40-4DCA-958B-8264690D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6959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O limite diário nasce do saldo livre dividido pelos dias até a próxima renda.</a:t>
            </a:r>
          </a:p>
        </p:txBody>
      </p:sp>
    </p:spTree>
    <p:extLst>
      <p:ext uri="{BB962C8B-B14F-4D97-AF65-F5344CB8AC3E}">
        <p14:creationId xmlns:p14="http://schemas.microsoft.com/office/powerpoint/2010/main" val="754306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B19D35-8D23-41AB-A39A-294632CD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A jornada até o primeiro plano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0AB26-3610-4E97-B911-75958461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A1D41-BFEA-4500-AD4F-E6ABF166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9D8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5492F-0887-4D5A-AFA1-B61268DD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A8951-4877-4155-93C7-35EC7300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71725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6FBB2-F48C-4B94-8A2A-D3DA851F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76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Perfil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FFD0B-679E-47DC-B192-54013093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92430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renda, orçamento e risco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BC5DA-6FCF-4ED2-8FD8-C0EA3750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7370C-B03A-4C61-845C-EE7FBF63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71725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FBFF1-EB7B-4F96-AAB6-1DD67462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476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Contas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7CEEC-074B-4781-A602-A52F2242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2430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saldos por finalidade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8F045-F6B2-427C-B3E2-AB9BC7CD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431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4ACE9-665A-4CBC-845E-D696F9E8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71725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00BCC-8BC2-45F2-B88E-97235285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76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Compromissos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0F5AD-FF4A-44A2-A038-D491E995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2430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obrigações e dívidas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3BBC9-11F0-42C5-87BD-687D2106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431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B287D-47AB-4303-935B-78BFCE72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71725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346ED-C9EA-4BF0-BF69-993EC29C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76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Transações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D9B826-C6F5-4914-861A-E262C0EA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2430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importação idempotente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513432-605E-4387-AF22-A1E1C888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1431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F3167F-C4F5-41E0-925F-9BE1C106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71725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0D1F72-1CD5-43B2-9D50-F63E1099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76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Plano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506F01-01F6-486A-9B0E-685EFA96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2430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cálculo e intenções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2BFAD2-0735-4A7E-8B53-92BB9BB9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38750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C6FAD3-7EE1-4DA6-B783-B2D79A2D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76875"/>
            <a:ext cx="904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831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136"/>
                </a:solidFill>
                <a:latin typeface="Arial"/>
                <a:ea typeface="Arial"/>
                <a:cs typeface="Arial"/>
              </a:rPr>
              <a:t>Depois do plano, o usuário aprova ou rejeita cada intenção. O backend não executa transferências.</a:t>
            </a:r>
          </a:p>
        </p:txBody>
      </p:sp>
    </p:spTree>
    <p:extLst>
      <p:ext uri="{BB962C8B-B14F-4D97-AF65-F5344CB8AC3E}">
        <p14:creationId xmlns:p14="http://schemas.microsoft.com/office/powerpoint/2010/main" val="21207279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95BAB-718E-487F-9B9D-A5A28D0A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O MVP cobre o ciclo financeiro essencial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4B177-DE3B-4A20-9C08-93C570FD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8BA00-08C5-484C-B902-77CC0D03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Consolidar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07FF3-2902-4930-AD1C-93E97F02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81125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831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136"/>
                </a:solidFill>
                <a:latin typeface="Arial"/>
                <a:ea typeface="Arial"/>
                <a:cs typeface="Arial"/>
              </a:rPr>
              <a:t>Contas, saldos e transações em um modelo canônico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88BD0-6B4D-468E-86DB-A1992842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99237-E389-4347-90E7-800866E1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Planejar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8FC26-712A-4088-B230-33DC4062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05075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831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136"/>
                </a:solidFill>
                <a:latin typeface="Arial"/>
                <a:ea typeface="Arial"/>
                <a:cs typeface="Arial"/>
              </a:rPr>
              <a:t>Obrigações, orçamento variável, dívida, reserva e aportes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1A7B9-1210-418D-BB6A-0FD75330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9884C-D6F6-46AA-BE56-B87B33F5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Acompanhar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77150-8FF8-4206-A0F8-C909993E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29025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831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136"/>
                </a:solidFill>
                <a:latin typeface="Arial"/>
                <a:ea typeface="Arial"/>
                <a:cs typeface="Arial"/>
              </a:rPr>
              <a:t>Metas, carteira e relatório mensal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73DC5-967C-42C7-A1DA-4BC91F45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BD8E8-CF30-492F-B2CA-66535A41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EF7A6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F7A62"/>
                </a:solidFill>
                <a:latin typeface="Arial"/>
                <a:ea typeface="Arial"/>
                <a:cs typeface="Arial"/>
              </a:rPr>
              <a:t>Controlar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10041-AF19-439D-B164-462D9305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52975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831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136"/>
                </a:solidFill>
                <a:latin typeface="Arial"/>
                <a:ea typeface="Arial"/>
                <a:cs typeface="Arial"/>
              </a:rPr>
              <a:t>Consentimentos, API key, auditoria e erros padronizados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3059F-AF13-4DC9-9AAD-6C6463AE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817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Modos disponíveis: OBSERVER, COPILOT e AUTOPILOT. No MVP, nenhum modo libera execução bancária.</a:t>
            </a:r>
          </a:p>
        </p:txBody>
      </p:sp>
    </p:spTree>
    <p:extLst>
      <p:ext uri="{BB962C8B-B14F-4D97-AF65-F5344CB8AC3E}">
        <p14:creationId xmlns:p14="http://schemas.microsoft.com/office/powerpoint/2010/main" val="14616460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87C195-45CA-4168-BA75-71145FEE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Recomendação e execução permanecem separadas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EC0A5-2381-4DC3-8573-A7B4E1E5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A9E5D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E5D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9DC77-ED5F-4E5E-8CD2-C4683A4B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337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9E5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3898B-DE44-43F4-8E0D-992C2512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3B40"/>
          </a:solidFill>
          <a:ln xmlns:a="http://schemas.openxmlformats.org/drawingml/2006/main" w="19050">
            <a:solidFill>
              <a:srgbClr val="A9E5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D8020-B8AD-4C52-93EB-4AAF0FF6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0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Dados canônicos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39DAC-FED8-49B9-BBD6-3DFD3E30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A9E5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E5D5"/>
                </a:solidFill>
                <a:latin typeface="Arial"/>
                <a:ea typeface="Arial"/>
                <a:cs typeface="Arial"/>
              </a:rPr>
              <a:t>contas e transações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7CC05-F547-48C0-8916-3FA06F2A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383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3B40"/>
          </a:solidFill>
          <a:ln xmlns:a="http://schemas.openxmlformats.org/drawingml/2006/main" w="19050">
            <a:solidFill>
              <a:srgbClr val="A9E5D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52A23-C9BB-4056-8B81-D7DC9C29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230B0-0D61-430F-8501-BE935728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718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A9E5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E5D5"/>
                </a:solidFill>
                <a:latin typeface="Arial"/>
                <a:ea typeface="Arial"/>
                <a:cs typeface="Arial"/>
              </a:rPr>
              <a:t>regras determinísticas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AC1D4-08F6-4051-90E7-BFBD995D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383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3B40"/>
          </a:solidFill>
          <a:ln xmlns:a="http://schemas.openxmlformats.org/drawingml/2006/main" w="19050">
            <a:solidFill>
              <a:srgbClr val="A9E5D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98F93-4286-4E6A-A639-52F6154A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765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Intenção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90507-C275-40D1-ADC5-9C64E411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718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A9E5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E5D5"/>
                </a:solidFill>
                <a:latin typeface="Arial"/>
                <a:ea typeface="Arial"/>
                <a:cs typeface="Arial"/>
              </a:rPr>
              <a:t>ação proposta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81404-BF9C-4EC1-97C5-F22207AF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19050">
            <a:solidFill>
              <a:srgbClr val="A9E5D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A80B9-686C-43EA-A938-B9A5998F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Decisão humana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F1FBB-158B-4A2C-93A2-CF9F63BB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718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A9E5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E5D5"/>
                </a:solidFill>
                <a:latin typeface="Arial"/>
                <a:ea typeface="Arial"/>
                <a:cs typeface="Arial"/>
              </a:rPr>
              <a:t>aprovar ou rejeitar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9A56E-18C0-4ECF-9C03-59D8C902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546AD-E377-4AFD-85CC-35F3AB6F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577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Sem executor bancário no MVP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E8C488-C079-4AEE-83B7-E3B1574F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102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3EA"/>
                </a:solidFill>
                <a:latin typeface="Arial"/>
                <a:ea typeface="Arial"/>
                <a:cs typeface="Arial"/>
              </a:rPr>
              <a:t>Aprovar muda o estado da intenção. `executionAvailable` continua falso.</a:t>
            </a:r>
          </a:p>
        </p:txBody>
      </p:sp>
    </p:spTree>
    <p:extLst>
      <p:ext uri="{BB962C8B-B14F-4D97-AF65-F5344CB8AC3E}">
        <p14:creationId xmlns:p14="http://schemas.microsoft.com/office/powerpoint/2010/main" val="18189963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6D1676-BCD4-4E8D-9420-CF7D724E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Arquitetura preparada para evoluir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849E0-E558-4525-8C4E-01B3A849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03349-37C7-4C06-8280-83C64CD5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MONÓLITO MODULAR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E4010-73EB-4404-97E7-6DE241DB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Uma implantação com fronteiras por domínio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5F91B-E76C-4132-BCD3-01614074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933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2E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14FDF-26FD-45AF-88D0-40E3A858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527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698D2-FD12-43D2-8542-CC88FB0A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67000"/>
            <a:ext cx="933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2E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E9DF1-8AEB-4297-9CDE-555C85AB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527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account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7C59E-AA0A-4D9B-9BD0-32FA0541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933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2E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FE9A0-5168-4C90-9DEB-09D9A2C6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527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transaction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C3373-154F-4914-BD1B-E585FBDF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67000"/>
            <a:ext cx="933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2E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AAD4F-A18E-4586-A9D5-E7E8367F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527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planning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30EFA-0A3C-4D6E-B58F-7CF1B91F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933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2E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D323D-F986-486D-8C14-A80EEB4E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portfolio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FE53A7-D529-4CA6-A7B6-706D5DAE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52800"/>
            <a:ext cx="933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2E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0D8CE-04A4-4C4B-89BE-83105596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38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5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openfinance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87A83-C67D-49B3-A53A-FA3B04E6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52800"/>
            <a:ext cx="933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2E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1ACF4D-C531-4A02-8832-A3B3EF88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38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1E649-7BAC-4BFD-B962-7B4E1465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85875"/>
            <a:ext cx="0" cy="433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AAC9A-48C4-468D-965D-52675CC0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5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F7A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F7A62"/>
                </a:solidFill>
                <a:latin typeface="Arial"/>
                <a:ea typeface="Arial"/>
                <a:cs typeface="Arial"/>
              </a:rPr>
              <a:t>RESILIÊNCIA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D2789F-0280-45F8-A3CF-61117A1F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95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Idempotência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203A6F-1DE9-4B78-87D2-80CD1E6A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954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repetição segura na importação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4B6EC-C496-4A5F-9BE1-3FA4EE97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8F4286-DCB3-48F1-8CFB-D178847E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955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Persistência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D150F5-3FDF-4B1F-BAF8-DBC8D0D3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955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Flyway e restrições de unicidade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BD5323-3F15-4149-8B3F-31985B50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813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7B4BFD-E8FA-4005-B6FC-4B0170F6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957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Erros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AE0C5A-BE35-454B-8558-CC84BF60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957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contrato RFC 9457 sem detalhes internos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650CFC-6D05-4D8D-9BF1-92AFF83C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815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C1D962-A72D-490E-830A-F0091EE0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958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Auditoria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B5E7FF-299B-48B6-9C5C-FD9DB5D2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958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eventos para mudanças relevantes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B06F9C-667C-4033-A206-59BFBA6B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Stack: Java 17, Kotlin 2.3.21, Spring Boot 4.1.0, PostgreSQL 17 e Gradle 9.5.1</a:t>
            </a:r>
          </a:p>
        </p:txBody>
      </p:sp>
    </p:spTree>
    <p:extLst>
      <p:ext uri="{BB962C8B-B14F-4D97-AF65-F5344CB8AC3E}">
        <p14:creationId xmlns:p14="http://schemas.microsoft.com/office/powerpoint/2010/main" val="3152540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2C873-6675-425B-BD59-14AF3C30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Próximos passos do 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D4D85-FDAF-4D21-B215-22F81327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F3A70-6501-461B-8CA2-9E64076B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AGORA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F3C03-0BB1-44AB-885A-34657050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MVP operacional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F16A4-3D6A-4083-B040-371C96C5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831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136"/>
                </a:solidFill>
                <a:latin typeface="Arial"/>
                <a:ea typeface="Arial"/>
                <a:cs typeface="Arial"/>
              </a:rPr>
              <a:t>Planejamento, relatórios e intenções auditáveis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ADE1E-67B7-4394-A8EA-F4137BDA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714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2B769-C4BA-4A16-86A3-BF2F14D2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24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PRÓXIMO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CAB0F-862D-4628-8FD8-BE52F741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716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Open Finance real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FD181-34D2-48E1-BE98-38CA02D6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6700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831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136"/>
                </a:solidFill>
                <a:latin typeface="Arial"/>
                <a:ea typeface="Arial"/>
                <a:cs typeface="Arial"/>
              </a:rPr>
              <a:t>OAuth, sincronização paginada, webhooks e tokens protegidos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2F14D-EDEE-4595-B789-00D90B39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71950"/>
            <a:ext cx="2714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01BFA-83F1-47A3-A70B-ABDD094F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24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F7A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F7A62"/>
                </a:solidFill>
                <a:latin typeface="Arial"/>
                <a:ea typeface="Arial"/>
                <a:cs typeface="Arial"/>
              </a:rPr>
              <a:t>DEPOIS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59A66-26C7-4FB6-AB3A-4E90E20B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716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Execução controlada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14CB5-47AD-4250-9C99-F011303F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6700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831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136"/>
                </a:solidFill>
                <a:latin typeface="Arial"/>
                <a:ea typeface="Arial"/>
                <a:cs typeface="Arial"/>
              </a:rPr>
              <a:t>Outbox, reconciliação, limites e conectores regulados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0B342-F76A-44D6-B67F-6B4D8D1E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2714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A6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39A9F-7B23-4EEA-A3E7-6CA9C07A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7438F-ECD5-4662-A333-E11ED2C1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86375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FinFlow já demonstra a lógica central do produto: transformar dados financeiros em decisões explicáveis, sem abrir mão de controle.</a:t>
            </a:r>
          </a:p>
        </p:txBody>
      </p:sp>
    </p:spTree>
    <p:extLst>
      <p:ext uri="{BB962C8B-B14F-4D97-AF65-F5344CB8AC3E}">
        <p14:creationId xmlns:p14="http://schemas.microsoft.com/office/powerpoint/2010/main" val="536988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2026-09-21T01:53:43.8350000Z</dcterms:created>
  <dcterms:modified xsi:type="dcterms:W3CDTF">2026-09-21T01:53:43.8350000Z</dcterms:modified>
</coreProperties>
</file>